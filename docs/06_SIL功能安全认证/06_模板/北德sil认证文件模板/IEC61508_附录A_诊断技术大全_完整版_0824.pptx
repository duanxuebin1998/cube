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2" Type="http://schemas.openxmlformats.org/officeDocument/2006/relationships/tableStyles" Target="tableStyles.xml"/><Relationship Id="rId71" Type="http://schemas.openxmlformats.org/officeDocument/2006/relationships/viewProps" Target="viewProps.xml"/><Relationship Id="rId70" Type="http://schemas.openxmlformats.org/officeDocument/2006/relationships/presProps" Target="presProps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31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1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3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4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5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6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7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IEC 61508-2 Annex A  |  Table A.2 — 电气元器件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Low demand: DC=Low (60%)  |  High demand: DC=Medium (90%)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20040" y="1005840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480560"/>
                <a:gridCol w="201168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诊断技术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Diagnostic Technique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技术解释 (IEC 61508-7 Annex A)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Explanation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诊断覆盖率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Diagnostic Coverage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A.1.1 在线监测失效检测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Failure detection by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on-line monitoring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利用EUC过程时序信息检测信号异常。例如开关未在预期时间改变状态→检测到失效。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"Under certain conditions, failures can be detected using information about the time behaviour of the EUC."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 demand: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 (60%)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demand: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 (90%)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A.1.2 继电器触点监控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Monitoring of relay contacts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比较继电器预期触点状态与实际状态。同时监控NC和NO触点→两者必须互斥。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"Relay contacts are monitored for correct operation by comparing expected with actual state."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(99%+)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但流量计通常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不适用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A.1.3 比较器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Comparator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比较两个独立信号。差值超出门槛→失效。可通过硬件(比较器IC)或软件(双ADC比对)实现。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"A comparator compares two independent signals. If they differ beyond a defined tolerance, a failure is detected."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(99%+)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推荐流量计用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双ADC比较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A.1.4 多数表决器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Majority voter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比较N≥3个独立信号，基于多数选择输出。2oo3或3oo4架构。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"Compares three or more independent signals and selects on majority basis."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(99%+)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仅HFT≥1适用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单台仪器不适用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A.1.1 在线监测失效检测 / Failure Detection by On-line Monitoring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Low/Medium  |  依据 Table A.2 + IEC 61508-7 §A.1.1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9728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07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定义正常操作的预期时间窗口：对每个关键信号(ADC读数/IO状态/通信响应)，记录其正常的刷新周期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6420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07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在每个控制周期检查信号是否在预期窗口内发生状态变化。例如ADC值应在每10ms更新一次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31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31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07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若信号值连续N个周期保持不变(冻结)→ 判定为失效。N值根据信号类型设定(通常3~5个周期)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98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98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07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检测到失效后：记录故障码→输出&lt;3.6mA(NE43低报警)→进入安全状态。可通过HART回读验证</a:t>
            </a:r>
            <a:endParaRPr lang="en-US" sz="850" dirty="0"/>
          </a:p>
        </p:txBody>
      </p:sp>
      <p:pic>
        <p:nvPicPr>
          <p:cNvPr id="17" name="Image 0" descr="c:/Users/zyc/.trae-cn/work/6a164bdc96cd32babbbe2711/flow_a1_1_1200x7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005840"/>
            <a:ext cx="3657600" cy="25603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✅ 强烈推荐 — 在固件中嵌入信号冻结检测(ADC/通信/IO)，周期性自检，开销极小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✅ 建议实现 — 在SIS逻辑层增加过程参数变化速率监测和合理性检查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A.2 + IEC 61508-7 §A.1.1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A.1.2 继电器触点监控 / Monitoring of Relay Contacts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A.2 + IEC 61508-7 §A.1.2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9728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07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硬件接线：将继电器NC触点接MCU GPIO1，NO触点接GPIO2。MCU每周期同时读取两个GPIO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6420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07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逻辑判定：NC和NO触点应始终互斥。NC=High ⇔ NO=Low。XOR(NC,NO) 必须 = 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31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31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07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若XOR=0（两者同时为0或同时为1）→ 故障已发生 → 记录故障码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98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98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07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故障响应：输出&lt;3.6mA → SIS逻辑控制器检测到→执行安全关断。适用于最终元件侧</a:t>
            </a:r>
            <a:endParaRPr lang="en-US" sz="850" dirty="0"/>
          </a:p>
        </p:txBody>
      </p:sp>
      <p:pic>
        <p:nvPicPr>
          <p:cNvPr id="17" name="Image 0" descr="c:/Users/zyc/.trae-cn/work/6a164bdc96cd32babbbe2711/flow_a1_2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005840"/>
            <a:ext cx="3657600" cy="20116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🔴 不适用 — 电磁流量计通常无继电器输出，此技术针对SIS最终元件(阀门/泵驱动)侧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✅ 必须考虑 — SIS使用继电器驱动关断阀/泵时，应监控继电器触点状态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A.2 + IEC 61508-7 §A.1.2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A.1.3 比较器 / Comparator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A.2 + IEC 61508-7 §A.1.3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9728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07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硬件设计：对同一信号源设置两路独立ADC采集通道，使用独立的基准电压(Vref A / Vref B)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6420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07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MCU软件：每周期同步读取两路ADC值 → 计算差值：Diff = |ADC1 − ADC2|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31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31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07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比较判定：若Diff &gt; 容差门限(通常取满量程的1~2%)→ 判定为失效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98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98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07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故障响应：记录故障码→输出&lt;3.6mA→进入安全状态。同时上报HART诊断信息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364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320040" y="3364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" y="3319272"/>
            <a:ext cx="4407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容差设定：需在出厂标定时通过全量程多点校准确定正常差异范围，门限=3σ</a:t>
            </a:r>
            <a:endParaRPr lang="en-US" sz="850" dirty="0"/>
          </a:p>
        </p:txBody>
      </p:sp>
      <p:pic>
        <p:nvPicPr>
          <p:cNvPr id="20" name="Image 0" descr="c:/Users/zyc/.trae-cn/work/6a164bdc96cd32babbbe2711/flow_a1_3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051560"/>
            <a:ext cx="3840480" cy="27432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20040" y="420624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22" name="Text 19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✅ 强烈推荐 — 电磁流量计可利用MCU内置双ADC做信号采集冗余比较，无需额外硬件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459028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✅ 可用 — 对不同原理传感器(流量计+差压+温度)做交叉校验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A.2 + IEC 61508-7 §A.1.3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A.1.4 多数表决器 / Majority Voter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A.2 + IEC 61508-7 §A.1.4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9728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07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架构前提：至少3路独立传感器或信号源 → 需要HFT≥1冗余架构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6420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07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表决器读取全部N个输入信号 → 对各路信号进行交叉比较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31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31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07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按MooN逻辑判定：如2oo3(3路中至少2路一致)或3oo4(4路中至少3路一致)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98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98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07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多数一致 → 输出该值。无法形成多数 → 表决失败 → 触发安全状态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364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320040" y="3364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" y="3319272"/>
            <a:ext cx="4407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单台电磁流量计(HFT=0)无法实现→需系统集成方安装多台仪表或冗余测量链</a:t>
            </a:r>
            <a:endParaRPr lang="en-US" sz="850" dirty="0"/>
          </a:p>
        </p:txBody>
      </p:sp>
      <p:pic>
        <p:nvPicPr>
          <p:cNvPr id="20" name="Image 0" descr="c:/Users/zyc/.trae-cn/work/6a164bdc96cd32babbbe2711/flow_a1_4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051560"/>
            <a:ext cx="3657600" cy="201168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22" name="Text 19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🔴 不适用(HFT=0) — 单台流量计仅有单一传感器信号源，无法表决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✅ 适用(HFT=1) — 安装3台流量计或2台流量计+1台其他原理传感器组成冗余测量链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A.2 + IEC 61508-7 §A.1.4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IEC 61508-2 Annex A  |  Table A.3 — 电子元件 / Electronic Components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Low/Medium/High 视技术而定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20040" y="914400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  <a:gridCol w="1371600"/>
                <a:gridCol w="100584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技术编号+名称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ID &amp; Name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技术解释 (IEC 61508-7 Annex A)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Explanation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诊断覆盖率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Diagnostic Coverage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SIL 2 推荐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Recommendation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A.1.1 Failure detection by on-line monitoring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在线监测失效检测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利用EUC过程时序信息检测信号异常。详见 Table A.2 详解页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Low/Medium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A.1.3 Comparator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比较器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比较两个独立信号，差值超出门槛→失效。详见 Table A.2 详解页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A.1.4 Majority voter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多数表决器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比较N≥3个独立信号基于多数输出。详见 Table A.2 详解页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A.2.1 Tests by redundant hardware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冗余硬件测试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利用额外硬件以适当频率测试安全功能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 中 (90%)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A.2.2 Dynamic principles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动态原理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通过动态信号处理检测静态失效，强制改变静态信号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 中 (90%)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A.2.3 Standard test access port + boundary-scan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标准测试端口+边界扫描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通过JTAG边界扫描控制观察每个IC引脚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A.2.5 Monitored redundancy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受监控冗余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至少两个硬件通道执行安全功能，输出不一致→安全状态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A.2.6 Electrical/electronic components with automatic check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自动检查元件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启动前及周期性地测试硬件，测试成功才允许运行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A.2.7 Analogue signal monitoring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模拟信号监控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优先用模拟信号，容差监控，减少检验测试频率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 低 (60%)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A.2.1 冗余硬件测试 / Tests by Redundant Hardware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Medium (90%)  |  依据 Table A.3 + IEC 61508-7 §A.2.1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设计额外硬件通道，与主通道并行（不作为正常功能必需）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以适当频率（如每个控制周期）通过冗余硬件测试安全功能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测试信号与主通道信号交叉比对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不一致 → 判定故障 → 输出&lt;3.6mA → 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3_1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953694"/>
            <a:ext cx="3474720" cy="847493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适用 — 电磁流量计双ADC或双信号链硬件冗余测试。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适用 — 冗余传感器信号交叉验证。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A.3 + IEC 61508-7 §A.2.1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A.2.2 动态原理 / Dynamic Principles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Medium (90%)  |  依据 Table A.3 + IEC 61508-7 §A.2.2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将静态信号强制为动态：定期翻转或调制（如LED闪灯、继电器脉冲、看门狗喂狗信号）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检测信号是否按预期变化：静态=失效（卡死）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典型实现：状态信号每个周期取反，MCU检测连续两次相同值→故障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对机电元件（继电器/阀）尤其有效</a:t>
            </a:r>
            <a:endParaRPr lang="en-US" sz="850" dirty="0"/>
          </a:p>
        </p:txBody>
      </p:sp>
      <p:pic>
        <p:nvPicPr>
          <p:cNvPr id="17" name="Image 0" descr="c:/Users/zyc/.trae-cn/work/6a164bdc96cd32babbbe2711/flow_a3_2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950162"/>
            <a:ext cx="3474720" cy="85455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信号输出状态周期性翻转检测。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阀门/泵的状态反馈动态监测。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A.3 + IEC 61508-7 §A.2.2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A.2.3 标准测试端口+边界扫描 / Standard Test Access Port + Boundary-Scan (JTAG)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A.3 + IEC 61508-7 §A.2.3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选用支持IEEE 1149.1 (JTAG) 边界扫描的IC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通过标准测试访问端口(TAP)访问每个引脚的状态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上电/运行时执行边界扫描自检：隔离核心逻辑与外部信号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检测到引脚故障 → 判定IC故障 → 进入安全状态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3_3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2070224"/>
            <a:ext cx="3474720" cy="614432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可选 — 适用于复杂FPGA/SoC产品；流量计MCU引脚较少时价值有限。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不适用 — 系统级无法直接使用IC边界扫描。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A.3 + IEC 61508-7 §A.2.3</a:t>
            </a:r>
            <a:endParaRPr lang="en-US" sz="7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075" y="2962910"/>
            <a:ext cx="5023485" cy="7391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A.2.5 受监控冗余 / Monitored Redundancy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A.3 + IEC 61508-7 §A.2.5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至少两个硬件通道并行执行同一安全功能（1oo2架构）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两通道输出实时比较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输出不一致 → 判定故障 → 进入安全状态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注意：与表决器不同，这里比较而非表决，任何不一致即故障</a:t>
            </a:r>
            <a:endParaRPr lang="en-US" sz="850" dirty="0"/>
          </a:p>
        </p:txBody>
      </p:sp>
      <p:pic>
        <p:nvPicPr>
          <p:cNvPr id="17" name="Image 0" descr="c:/Users/zyc/.trae-cn/work/6a164bdc96cd32babbbe2711/flow_a3_5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787936"/>
            <a:ext cx="3474720" cy="117900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成本高 — 单台流量计双通道信号链冗余，增加BOM和面积。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双传感器冗余测量链。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A.3 + IEC 61508-7 §A.2.5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A.2.6 自动检查元件 / Components with Automatic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A.3 + IEC 61508-7 §A.2.6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启动时执行完整硬件自检（寄存器/内存/外设）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运行中按固定周期重复自检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每次自检必须成功，否则EUC不允许继续运行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自检失败 → 锁存故障 → 输出&lt;3.6mA → 需重启或授权复位</a:t>
            </a:r>
            <a:endParaRPr lang="en-US" sz="850" dirty="0"/>
          </a:p>
        </p:txBody>
      </p:sp>
      <p:pic>
        <p:nvPicPr>
          <p:cNvPr id="17" name="Image 0" descr="c:/Users/zyc/.trae-cn/work/6a164bdc96cd32babbbe2711/flow_a3_6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957225"/>
            <a:ext cx="3474720" cy="84043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强烈推荐 — 上电自检(POST)是SIL 2流量计标配。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建议 — 校验仪表自检报告。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A.3 + IEC 61508-7 §A.2.6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A.2.7 模拟信号监控 / Analogue Signal Monitoring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Low (60%)  |  依据 Table A.3 + IEC 61508-7 §A.2.7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优先使用4-20mA模拟信号而非数字开关量（利用NAMUR NE43）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对信号电平设置容差监控窗口（&lt;3.6mA故障 / &gt;21mA故障）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连续监测信号连续性（断线检测）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减少变送器传感功能的检验测试频率</a:t>
            </a:r>
            <a:endParaRPr lang="en-US" sz="850" dirty="0"/>
          </a:p>
        </p:txBody>
      </p:sp>
      <p:pic>
        <p:nvPicPr>
          <p:cNvPr id="17" name="Image 0" descr="c:/Users/zyc/.trae-cn/work/6a164bdc96cd32babbbe2711/flow_a3_7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837236"/>
            <a:ext cx="3474720" cy="108040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4-20mA输出本身即是诊断载体。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逻辑控制器读取NE43状态。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A.3 + IEC 61508-7 §A.2.7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IEC 61508-2 Annex A  |  Table A.4 — 处理单元 / Processing Units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视技术而定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20040" y="914400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  <a:gridCol w="1371600"/>
                <a:gridCol w="100584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技术编号+名称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ID &amp; Name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技术解释 (IEC 61508-7 Annex A)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Explanation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诊断覆盖率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Diagnostic Coverage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SIL 2 推荐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Recommendation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A.1.3 Comparator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比较器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比较两个独立信号，差值超出门槛→失效。详见 Table A.2 详解页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A.1.4 Majority voter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多数表决器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比较N≥3个独立信号基于多数输出。详见 Table A.2 详解页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A.3.1 Self-test by software: limited patterns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软件自检:有限模式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用2个互补数据模式(如55hex/AAhex)进行软件自检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 低 (60%)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A.3.2 Self-test by software: walking bit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软件自检:走查位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单通道walking bit模式测试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 中 (90%)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A.3.3 Self-test supported by hardware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硬件支持的自检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硬件协助的单通道自检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 中 (90%)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A.3.4 Coded processing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编码处理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单通道编码处理(如HPR/AN-编码)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A.3.5 Reciprocal comparison by software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软件互比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双通道软件互相比对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A.3.1 软件自检:有限模式 / Self-test by Software: Limited Patterns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Low (60%)  |  依据 Table A.4 + IEC 61508-7 §A.3.1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上电时对CPU寄存器/ALU执行自检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使用至少两个互补数据模式(55hex和AAhex)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执行简单算术逻辑操作并验证结果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结果异常 → CPU故障 → 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4_1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2110" y="1889125"/>
            <a:ext cx="5911850" cy="69151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MCU上电自检和周期自检。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建议 — 校验设备自检报告。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A.4 + IEC 61508-7 §A.3.1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A.3.2 软件自检:走查位 / Self-test by Software: Walking Bit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Medium (90%)  |  依据 Table A.4 + IEC 61508-7 §A.3.2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对数据总线/寄存器执行walking bit测试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每位依次置1其余为0，验证正确读写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覆盖所有位 → 检测粘连位故障(stuck-at)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任一测试失败 → 处理单元故障</a:t>
            </a:r>
            <a:endParaRPr lang="en-US" sz="850" dirty="0"/>
          </a:p>
        </p:txBody>
      </p:sp>
      <p:pic>
        <p:nvPicPr>
          <p:cNvPr id="17" name="Image 0" descr="c:/Users/zyc/.trae-cn/work/6a164bdc96cd32babbbe2711/flow_a4_2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4218" y="1083945"/>
            <a:ext cx="5559425" cy="188150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</a:t>
            </a:r>
            <a:r>
              <a:rPr lang="en-US" altLang="zh-CN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CPU </a:t>
            </a:r>
            <a:r>
              <a:rPr lang="zh-CN" alt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寄存器 / 指令译码器</a:t>
            </a:r>
            <a:endParaRPr lang="zh-CN" altLang="en-US" sz="900" dirty="0">
              <a:solidFill>
                <a:srgbClr val="1E276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不适用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A.4 + IEC 61508-7 §A.3.2</a:t>
            </a:r>
            <a:endParaRPr lang="en-US" sz="7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570" y="2935605"/>
            <a:ext cx="5316855" cy="70993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8179435" y="2571750"/>
            <a:ext cx="635635" cy="402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">
                <a:solidFill>
                  <a:srgbClr val="7030A0"/>
                </a:solidFill>
              </a:rPr>
              <a:t>处理器寄存器正常 </a:t>
            </a:r>
            <a:r>
              <a:rPr lang="en-US" altLang="zh-CN" sz="600">
                <a:solidFill>
                  <a:srgbClr val="7030A0"/>
                </a:solidFill>
              </a:rPr>
              <a:t>CPU Register OK</a:t>
            </a:r>
            <a:endParaRPr lang="en-US" altLang="zh-CN" sz="60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A.3.3 硬件支持的自检 / Self-test Supported by Hardware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Medium (90%)  |  依据 Table A.4 + IEC 61508-7 §A.3.3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硬件电路支持执行自检指令序列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上电时硬件触发自检序列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结果由硬件校验电路验证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自检失败 → 硬件锁存故障 → 禁止运行</a:t>
            </a:r>
            <a:endParaRPr lang="en-US" sz="850" dirty="0"/>
          </a:p>
        </p:txBody>
      </p:sp>
      <p:pic>
        <p:nvPicPr>
          <p:cNvPr id="17" name="Image 0" descr="c:/Users/zyc/.trae-cn/work/6a164bdc96cd32babbbe2711/flow_a4_3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7545" y="1717040"/>
            <a:ext cx="5606415" cy="95694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带硬件校验的MCU自检。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不适用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A.4 + IEC 61508-7 §A.3.3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A.3.4 编码处理 / Coded Processing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A.4 + IEC 61508-7 §A.3.4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采用编码处理技术(如AN-code/HPR)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数据和运算均编码表示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运算结果自动校验编码有效性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编码无效 → 检测到处理错误 → 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4_4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997834"/>
            <a:ext cx="3474720" cy="759212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可选 — 高SIL应用才需编码处理，成本高。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不适用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A.4 + IEC 61508-7 §A.3.4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A.3.5 软件互比 / Reciprocal Comparison by Software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A.4 + IEC 61508-7 §A.3.5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双通道软件独立处理同一数据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结果交叉比对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结果一致 → 输出；不一致 → 故障 → 安全状态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两个通道可运行在相同硬件(时分割)或不同硬件</a:t>
            </a:r>
            <a:endParaRPr lang="en-US" sz="850" dirty="0"/>
          </a:p>
        </p:txBody>
      </p:sp>
      <p:pic>
        <p:nvPicPr>
          <p:cNvPr id="17" name="Image 0" descr="c:/Users/zyc/.trae-cn/work/6a164bdc96cd32babbbe2711/flow_a4_5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923148"/>
            <a:ext cx="3474720" cy="908584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成本高 — 双通道软件冗余。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冗余控制器配置。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A.4 + IEC 61508-7 §A.3.5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IEC 61508-2 Annex A  |  Table A.5 — 不变存储器 / Invariable Memory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Low/Medium/High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20040" y="1005840"/>
          <a:ext cx="8503920" cy="2304288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  <a:gridCol w="1371600"/>
                <a:gridCol w="100584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技术编号+名称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ID &amp; Name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技术解释 (IEC 61508-7 Annex A)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Explanation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诊断覆盖率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Diagnostic Coverage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SIL 2 推荐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Recommendation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A.4.1 Word-protection multi-bit redundancy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字保护多位冗余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多位冗余含地址，检测多位共因故障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 中 (90%)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A.4.2 Modified checksum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改进校验和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对存储块所有字计算校验和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 低 (60%)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A.4.3 Signature of one word (8-bit)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8-bit签名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CRC多项式除法压缩为1字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 中 (90%)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A.4.4 Signature of a double word (16-bit)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16-bit签名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CRC结果至少2字，检出率99.998%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(99.998%)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A.4.5 Block replication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块复制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数据块双份存储比对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A.4.1 字保护多位冗余 / Word-protection Multi-bit Redundancy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Medium (90%)  |  依据 Table A.5 + IEC 61508-7 §A.4.1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每个存储字附带多位冗余位(如4位汉明码)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冗余位编码包含地址信息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检测多位共因故障(多行选通/电源问题)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校验失败 → 存储器故障 → 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5_1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0965" y="1760855"/>
            <a:ext cx="4912995" cy="95377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较少用 — Flash校验通常用CRC而非多位冗余。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不适用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A.5 + IEC 61508-7 §A.4.1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A.4.2 改进校验和 / Modified Checksum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Low (60%)  |  依据 Table A.5 + IEC 61508-7 §A.4.2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对存储块所有字通过算法计算校验和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校验和作为附加字存储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测试时重新计算并与存储值比对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不一致 → 故障 → 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5_2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4520" y="1604010"/>
            <a:ext cx="5679440" cy="111379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简单有效 — 配置参数校验和。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不适用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A.5 + IEC 61508-7 §A.4.2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A.4.3 8-bit签名 / Signature of One Word (8-bit)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Medium (90%)  |  依据 Table A.5 + IEC 61508-7 §A.4.3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使用CRC算法将存储块压缩为1个字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18488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1848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581912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把整个块视为字节串行数据流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14884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14884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12264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用多项式生成器连续多项式除法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6791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6791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642616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余数=签名存储；读取时重算比对。检出率约99.6%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20954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320040" y="320954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" y="3172968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差异 → 故障 → 安全状态</a:t>
            </a:r>
            <a:endParaRPr lang="en-US" sz="850" dirty="0"/>
          </a:p>
        </p:txBody>
      </p:sp>
      <p:pic>
        <p:nvPicPr>
          <p:cNvPr id="20" name="Image 0" descr="c:/Users/zyc/.trae-cn/work/6a164bdc96cd32babbbe2711/flow_a5_3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3700" y="1689735"/>
            <a:ext cx="5890260" cy="97536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22" name="Text 19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8-bit CRC适合小数据块。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不适用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A.5 + IEC 61508-7 §A.4.3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A.4.4 16-bit签名 / Signature of a Double Word (16-bit)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(99.998%)  |  依据 Table A.5 + IEC 61508-7 §A.4.4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与A.4.3相同算法但结果≥2字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检出率99.998%(8-bit为99.6%)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推荐用于SIL 2程序存储器校验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典型实现：上电时CRC-16全量校验Flash</a:t>
            </a:r>
            <a:endParaRPr lang="en-US" sz="850" dirty="0"/>
          </a:p>
        </p:txBody>
      </p:sp>
      <p:pic>
        <p:nvPicPr>
          <p:cNvPr id="17" name="Image 0" descr="c:/Users/zyc/.trae-cn/work/6a164bdc96cd32babbbe2711/flow_a5_4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8290" y="1645920"/>
            <a:ext cx="5995670" cy="102997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强烈推荐 — 上电CRC-16全量校验Flash程序。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不适用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A.5 + IEC 61508-7 §A.4.4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A.4.5 块复制 / Block Replication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A.5 + IEC 61508-7 §A.4.5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关键数据块双份存储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读取时两块同时读出比对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不一致 → 判定故障 → 安全状态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适用于关键配置参数/校准数据</a:t>
            </a:r>
            <a:endParaRPr lang="en-US" sz="850" dirty="0"/>
          </a:p>
        </p:txBody>
      </p:sp>
      <p:pic>
        <p:nvPicPr>
          <p:cNvPr id="17" name="Image 0" descr="c:/Users/zyc/.trae-cn/work/6a164bdc96cd32babbbe2711/flow_a5_5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0620" y="1514475"/>
            <a:ext cx="5133340" cy="130429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关键参数双份存储。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不适用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A.5 + IEC 61508-7 §A.4.5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IEC 61508-2 Annex A  |  Table A.6 — 可变存储器 / Variable Memory (RAM)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Low/Medium/High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20040" y="1005840"/>
          <a:ext cx="8503920" cy="3364992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  <a:gridCol w="1371600"/>
                <a:gridCol w="100584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技术编号+名称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ID &amp; Name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技术解释 (IEC 61508-7 Annex A)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Explanation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诊断覆盖率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Diagnostic Coverage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SIL 2 推荐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Recommendation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A.5.1 RAM test checkerboard or march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RAM测试:棋盘格或march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棋盘格/行进模式测试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 低 (60%)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A.5.2 RAM test walk-path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RAM测试:走查路径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走查路径测试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 中 (90%)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A.5.3 RAM test galpat or transparent galpat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RAM测试:galpat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galpat或透明galpat测试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A.5.4 RAM test Abraham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RAM测试:Abraham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Abraham算法测试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A.5.5 Parity-bit for RAM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RAM奇偶校验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每字1位奇偶位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 低 (60%)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A.5.6 RAM monitoring with modified Hamming code or EDC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改进汉明码或纠错码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地址纳入汉明码检测多位共因故障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 中 (90%)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A.5.7 Double RAM with comparison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双RAM比较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双RAM读写测试比对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A.5.1 棋盘格/march测试 / RAM Test: Checkerboard or March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Low (60%)  |  依据 Table A.6 + IEC 61508-7 §A.5.1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将RAM写满棋盘格模式(0101/1010)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读出验证与写入一致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再用march模式(顺序+逆序读写)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不一致 → RAM故障 → 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6_1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6530" y="1866265"/>
            <a:ext cx="6107430" cy="71437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上电RAM测试(棋盘格)。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不适用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A.6 + IEC 61508-7 §A.5.1</a:t>
            </a:r>
            <a:endParaRPr lang="en-US" sz="7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680" y="2690495"/>
            <a:ext cx="3070860" cy="22104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A.5.2 走查路径 / RAM Test: Walk-path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Medium (90%)  |  依据 Table A.6 + IEC 61508-7 §A.5.2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对RAM每个单元执行walk-path测试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相邻单元间互检(走查路径覆盖)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检测单元间耦合故障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 → RAM故障 → 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6_2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5840" y="1070610"/>
            <a:ext cx="5278120" cy="8636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可选 — 中小容量RAM。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不适用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A.6 + IEC 61508-7 §A.5.2</a:t>
            </a:r>
            <a:endParaRPr lang="en-US" sz="7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5" y="2025015"/>
            <a:ext cx="4394835" cy="16789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A.5.3 galpat测试 / RAM Test: Galpat or Transparent Galpat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A.6 + IEC 61508-7 §A.5.3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使用galpat模式(一个基数位+其余相反)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透明galpat允许保存原数据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检测单元间故障和数据保持故障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测试失败 → RAM故障 → 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6_3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785" y="1305560"/>
            <a:ext cx="6050915" cy="88582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高覆盖率RAM测试。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不适用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A.6 + IEC 61508-7 §A.5.3</a:t>
            </a:r>
            <a:endParaRPr lang="en-US" sz="700" dirty="0"/>
          </a:p>
        </p:txBody>
      </p:sp>
      <p:sp>
        <p:nvSpPr>
          <p:cNvPr id="23" name="文本框 22"/>
          <p:cNvSpPr txBox="1"/>
          <p:nvPr/>
        </p:nvSpPr>
        <p:spPr>
          <a:xfrm>
            <a:off x="3954145" y="2477770"/>
            <a:ext cx="4649470" cy="1153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GALPAT测试是一种RAM测试方法，先一致初始化存储范围，测试最初单元</a:t>
            </a:r>
            <a:r>
              <a:rPr lang="zh-CN" alt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en-US" altLang="zh-CN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bit)</a:t>
            </a: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，倒置它并检查其余单元，对每个单元重复操作，反向初始化后再运行一次，有差异就产生失效报文，可检测静态位失效和大比例动态耦合 。</a:t>
            </a:r>
            <a:r>
              <a:rPr lang="en-US" altLang="zh-CN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Galpat：</a:t>
            </a:r>
            <a:r>
              <a:rPr lang="zh-CN" alt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测试会破坏 </a:t>
            </a:r>
            <a:r>
              <a:rPr lang="en-US" altLang="zh-CN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RAM </a:t>
            </a:r>
            <a:r>
              <a:rPr lang="zh-CN" alt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原有数据，只适合上电离线 </a:t>
            </a:r>
            <a:r>
              <a:rPr lang="en-US" altLang="zh-CN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RAM </a:t>
            </a:r>
            <a:r>
              <a:rPr lang="zh-CN" alt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测试；</a:t>
            </a:r>
            <a:endParaRPr lang="zh-CN" altLang="en-US" sz="850" dirty="0">
              <a:solidFill>
                <a:srgbClr val="1E276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Galpat测试重点关注单个存储单元，对其比特位进行操作来检测单元自身及单元间故障；walk - path测试更侧重在对每个单元操作过程中，检查该单元与相邻单元之间是否存在相互干扰等耦合故障 。</a:t>
            </a:r>
            <a:r>
              <a:rPr lang="zh-CN" altLang="en-US"/>
              <a:t> </a:t>
            </a:r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A.5.4 Abraham测试 / RAM Test: Abraham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A.6 + IEC 61508-7 §A.5.4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使用Abraham算法(多模式组合)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覆盖固定故障/转换故障/耦合故障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上电时执行完整Abraham测试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 → RAM故障 → 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6_4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9905" y="868680"/>
            <a:ext cx="5774055" cy="108585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较少用 — 算法复杂,测试时间长。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不适用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A.6 + IEC 61508-7 §A.5.4</a:t>
            </a:r>
            <a:endParaRPr lang="en-US" sz="7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380" y="2164080"/>
            <a:ext cx="4630420" cy="162623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A.5.5 RAM奇偶校验 / Parity-bit for 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Low (60%)  |  依据 Table A.6 + IEC 61508-7 §A.5.5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每个存储字附加1位奇偶位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18488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1848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581912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写入时计算奇偶位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14884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14884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12264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读取时重新计算比对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6791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6791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642616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只能检测奇数位错误,无法纠错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20954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320040" y="320954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" y="3172968"/>
            <a:ext cx="44988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 → RAM故障 → 安全状态</a:t>
            </a:r>
            <a:endParaRPr lang="en-US" sz="850" dirty="0"/>
          </a:p>
        </p:txBody>
      </p:sp>
      <p:pic>
        <p:nvPicPr>
          <p:cNvPr id="20" name="Image 0" descr="c:/Users/zyc/.trae-cn/work/6a164bdc96cd32babbbe2711/flow_a6_5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3050" y="1344295"/>
            <a:ext cx="5873750" cy="94361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22" name="Text 19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可选 — 硬件奇偶位需支持。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不适用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A.6 + IEC 61508-7 §A.5.5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A.5.6 改进汉明码/EDC / Modified Hamming Code or EDC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Medium (90%)  |  依据 Table A.6 + IEC 61508-7 §A.5.6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采用改进汉明码(地址纳入编码)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检测并纠正单位错误(EDC)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检测多位共因故障(多行选通等)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不可纠正错误 → RAM故障 → 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6_6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0915" y="1212850"/>
            <a:ext cx="5626735" cy="8864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可选 — 需ECC内存支持。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不适用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A.6 + IEC 61508-7 §A.5.6</a:t>
            </a:r>
            <a:endParaRPr lang="en-US" sz="7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460" y="2087880"/>
            <a:ext cx="5514340" cy="1154430"/>
          </a:xfrm>
          <a:prstGeom prst="rect">
            <a:avLst/>
          </a:prstGeom>
        </p:spPr>
      </p:pic>
      <p:sp>
        <p:nvSpPr>
          <p:cNvPr id="24" name="文本框 23">
            <a:hlinkClick r:id="rId3" action="ppaction://hlinksldjump"/>
          </p:cNvPr>
          <p:cNvSpPr txBox="1"/>
          <p:nvPr/>
        </p:nvSpPr>
        <p:spPr>
          <a:xfrm>
            <a:off x="3284855" y="3228340"/>
            <a:ext cx="3951605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https://blog.csdn.net/a493823882/article/details/109343791</a:t>
            </a:r>
            <a:endParaRPr lang="en-US" altLang="zh-CN" sz="9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A.5.7 双RAM比较 / Double RAM with Comparison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A.6 + IEC 61508-7 §A.5.7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两个RAM芯片存储相同数据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读写时同时操作两个RAM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输出比对,不一致 → RAM故障 → 安全状态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成本高,用于高SIL应用</a:t>
            </a:r>
            <a:endParaRPr lang="en-US" sz="850" dirty="0"/>
          </a:p>
        </p:txBody>
      </p:sp>
      <p:pic>
        <p:nvPicPr>
          <p:cNvPr id="17" name="Image 0" descr="c:/Users/zyc/.trae-cn/work/6a164bdc96cd32babbbe2711/flow_a6_7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5375" y="1721485"/>
            <a:ext cx="5188585" cy="98615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🔴 成本高 — 双RAM不适用于流量计。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冗余控制器。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A.6 + IEC 61508-7 §A.5.7</a:t>
            </a:r>
            <a:endParaRPr lang="en-US" sz="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IEC 61508-2 Annex A  |  Table A.7 — I/O单元与接口 / I/O Units &amp; Interface</a:t>
            </a:r>
            <a:r>
              <a:rPr lang="zh-CN" altLang="en-US" sz="8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宋体" panose="02010600030101010101" pitchFamily="2" charset="-122"/>
                <a:cs typeface="Georgia" panose="02040502050405020303" pitchFamily="34" charset="-120"/>
              </a:rPr>
              <a:t>（涉及数据传输或控制等功能，且与 </a:t>
            </a:r>
            <a:r>
              <a:rPr lang="en-US" altLang="zh-CN" sz="8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宋体" panose="02010600030101010101" pitchFamily="2" charset="-122"/>
                <a:cs typeface="Georgia" panose="02040502050405020303" pitchFamily="34" charset="-120"/>
              </a:rPr>
              <a:t>IO </a:t>
            </a:r>
            <a:r>
              <a:rPr lang="zh-CN" altLang="en-US" sz="8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宋体" panose="02010600030101010101" pitchFamily="2" charset="-122"/>
                <a:cs typeface="Georgia" panose="02040502050405020303" pitchFamily="34" charset="-120"/>
              </a:rPr>
              <a:t>单元和接口的功能特性相关，像接口电路、驱动程序等方面的技术）</a:t>
            </a:r>
            <a:endParaRPr lang="zh-CN" altLang="en-US" sz="800" b="1" kern="0" spc="100" dirty="0">
              <a:solidFill>
                <a:srgbClr val="FFFFFF"/>
              </a:solidFill>
              <a:latin typeface="Georgia" panose="02040502050405020303" pitchFamily="34" charset="0"/>
              <a:ea typeface="宋体" panose="02010600030101010101" pitchFamily="2" charset="-122"/>
              <a:cs typeface="Georgia" panose="02040502050405020303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视技术而定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20040" y="1005840"/>
          <a:ext cx="8503920" cy="3364992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  <a:gridCol w="1371600"/>
                <a:gridCol w="100584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技术编号+名称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ID &amp; Name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技术解释 (IEC 61508-7 Annex A)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Explanation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诊断覆盖率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Diagnostic Coverage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SIL 2 推荐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Recommendation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A.1.1 Failure detection by on-line monitoring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在线监测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利用EUC时序信息检测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Low/Medium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A.6.1 Test pattern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测试模式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输出端周期性注入测试模式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A.6.2 Code protection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代码保护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信息/时间冗余叠加在I/O数据上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A.6.3 Multi-channel parallel output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多通道并行输出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多通道并行输出数据流比较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A.6.4 Monitored outputs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受监控输出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输出与独立输入比较(时间/值容差)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A.6.5 Input comparison/voting (1oo2, 2oo3)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输入比较/表决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冗余输入比较表决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A.11.4 Antivalent signal transmission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反相信号传输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重复信息以反相传输(逻辑1/0)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A.6.1 测试模式 / Test Pattern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A.7 + IEC 61508-7 §A.6.1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在I/O输出端周期性注入已知测试模式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读取响应并验证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验证失败 → I/O故障 → 安全状态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注意测试期间输出需保持安全状态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7_1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0140" y="1613535"/>
            <a:ext cx="6433820" cy="10464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DAC输出测试模式注入。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建议 — 校验设备输出响应。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A.7 + IEC 61508-7 §A.6.1</a:t>
            </a:r>
            <a:endParaRPr lang="en-US" sz="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A.6.2 代码保护 / Code Protection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A.7 + IEC 61508-7 §A.6.2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在输入/输出数据上叠加冗余信息</a:t>
            </a:r>
            <a:endParaRPr lang="en-US" sz="850" dirty="0">
              <a:solidFill>
                <a:srgbClr val="1E276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650" dirty="0"/>
              <a:t>（冗余信息是指在传输的数据中额外添加的部分）</a:t>
            </a:r>
            <a:endParaRPr lang="zh-CN" alt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基于信息冗余+时间冗余检测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数据流依赖的失效检测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校验失败 → I/O电路故障 → 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7_2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7185" y="1088390"/>
            <a:ext cx="5699125" cy="9499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强烈推荐 — SPI/DAC通信CRC保护。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安全通信协议。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A.7 + IEC 61508-7 §A.6.2</a:t>
            </a:r>
            <a:endParaRPr lang="en-US" sz="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A.6.3 多通道并行输出 / Multi-channel Parallel Output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A.7 + IEC 61508-7 §A.6.3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同一输出信号通过多个并行通道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各通道输出实时比较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不一致 → 输出通道故障 → 安全状态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仅当数据流在诊断间隔内变化时有效</a:t>
            </a:r>
            <a:endParaRPr lang="en-US" sz="850" dirty="0"/>
          </a:p>
        </p:txBody>
      </p:sp>
      <p:pic>
        <p:nvPicPr>
          <p:cNvPr id="17" name="Image 0" descr="c:/Users/zyc/.trae-cn/work/6a164bdc96cd32babbbe2711/flow_a7_3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8320" y="1650365"/>
            <a:ext cx="5755640" cy="10414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成本高 — 多通道输出。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冗余输出模块。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A.7 + IEC 61508-7 §A.6.3</a:t>
            </a:r>
            <a:endParaRPr lang="en-US" sz="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A.6.4 受监控输出 / Monitored Outputs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A.7 + IEC 61508-7 §A.6.4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输出信号与独立输入信号比较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时间容差+数值容差双重判定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超容差 → 输出故障 → 安全状态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无法精确定位故障输出</a:t>
            </a:r>
            <a:endParaRPr lang="en-US" sz="850" dirty="0"/>
          </a:p>
        </p:txBody>
      </p:sp>
      <p:pic>
        <p:nvPicPr>
          <p:cNvPr id="17" name="Image 0" descr="c:/Users/zyc/.trae-cn/work/6a164bdc96cd32babbbe2711/flow_a7_4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0235" y="1701165"/>
            <a:ext cx="5673725" cy="97472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DAC输出回读比较。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最终元件状态反馈。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A.7 + IEC 61508-7 §A.6.4</a:t>
            </a:r>
            <a:endParaRPr lang="en-US" sz="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A.6.5 输入比较/表决 / Input Comparison/Voting (1oo2, 2oo3)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A.7 + IEC 61508-7 §A.6.5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至少1oo2或2oo3冗余输入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各输入信号比较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不一致 → 输入故障 → 安全状态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与A.1.4表决器类似但用于输入</a:t>
            </a:r>
            <a:endParaRPr lang="en-US" sz="850" dirty="0"/>
          </a:p>
        </p:txBody>
      </p:sp>
      <p:pic>
        <p:nvPicPr>
          <p:cNvPr id="17" name="Image 0" descr="c:/Users/zyc/.trae-cn/work/6a164bdc96cd32babbbe2711/flow_a7_5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9320" y="1593850"/>
            <a:ext cx="5374640" cy="11582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需冗余输入 — 双传感器。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强烈推荐 — 冗余传感器输入。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A.7 + IEC 61508-7 §A.6.5</a:t>
            </a:r>
            <a:endParaRPr lang="en-US" sz="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A.11.4 反相信号传输 / Antivalent Signal Transmission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A.7 + IEC 61508-7 §A.11.4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重复信息以反相传输(原始+反相)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接收端反相比较器比对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检测共因故障(如EMI干扰)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不一致 → 通信故障 → 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7_6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9925" y="1680210"/>
            <a:ext cx="5614035" cy="100965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较少用 — 反相传输带宽翻倍。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安全通信链路。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A.7 + IEC 61508-7 §A.11.4</a:t>
            </a:r>
            <a:endParaRPr lang="en-US" sz="700" dirty="0"/>
          </a:p>
        </p:txBody>
      </p:sp>
      <p:sp>
        <p:nvSpPr>
          <p:cNvPr id="23" name="文本框 22"/>
          <p:cNvSpPr txBox="1"/>
          <p:nvPr/>
        </p:nvSpPr>
        <p:spPr>
          <a:xfrm>
            <a:off x="3299460" y="2767647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200"/>
              <a:t>反向输出通常指将数据按位取反或位顺序逆序，如原数据为 </a:t>
            </a:r>
            <a:r>
              <a:rPr lang="en-US" altLang="zh-CN" sz="1200"/>
              <a:t>1010</a:t>
            </a:r>
            <a:r>
              <a:rPr lang="zh-CN" altLang="en-US" sz="1200"/>
              <a:t>，按位取反后是 </a:t>
            </a:r>
            <a:r>
              <a:rPr lang="en-US" altLang="zh-CN" sz="1200"/>
              <a:t>0101</a:t>
            </a:r>
            <a:r>
              <a:rPr lang="zh-CN" altLang="en-US" sz="1200"/>
              <a:t>，位顺序逆序也可能是 </a:t>
            </a:r>
            <a:r>
              <a:rPr lang="en-US" altLang="zh-CN" sz="1200"/>
              <a:t>0101</a:t>
            </a:r>
            <a:r>
              <a:rPr lang="zh-CN" altLang="en-US" sz="1200"/>
              <a:t>，常用于数据校验、信号处理等场景 。</a:t>
            </a:r>
            <a:endParaRPr lang="zh-CN" altLang="en-US" sz="12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IEC 61508-2 Annex A  |  Table A.8 — 数据通路 / Data Paths (Internal)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Low/Medium/High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20040" y="1005840"/>
          <a:ext cx="8503920" cy="2944368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  <a:gridCol w="1371600"/>
                <a:gridCol w="100584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技术编号+名称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ID &amp; Name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技术解释 (IEC 61508-7 Annex A)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Explanation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诊断覆盖率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Diagnostic Coverage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SIL 2 推荐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Recommendation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A.7.1 One-bit hardware redundancy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单比特硬件冗余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数据线1位冗余(如奇偶线)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 低 (60%)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A.7.2 Multi-bit hardware redundancy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多比特硬件冗余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多位冗余(如汉明码硬件)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 中 (90%)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A.7.3 Complete hardware redundancy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完全硬件冗余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总线完全双份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A.7.4 Inspection using test patterns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测试模式检测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周期性注入测试模式检查总线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A.7.5 Transmission redundancy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传输冗余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每条消息至少发送2次,接收端比对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(99%+)(仅瞬态故障)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A.7.6 Information redundancy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信息冗余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数据块附校验和,接收端重算比对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A.7.1 单比特硬件冗余 / One-bit Hardware Redundancy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Low (60%)  |  依据 Table A.8 + IEC 61508-7 §A.7.1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数据总线附加1位冗余位(如奇偶位)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写入时计算,读取时校验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检测单比特错误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 → 总线故障 → 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8_1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4965" y="1542415"/>
            <a:ext cx="5928995" cy="11811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较少用 — 现代MCU内部总线已有ECC。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不适用。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A.8 + IEC 61508-7 §A.7.1</a:t>
            </a:r>
            <a:endParaRPr lang="en-US" sz="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A.7.2 多比特硬件冗余 / Multi-bit Hardware Redundancy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Medium (90%)  |  依据 Table A.8 + IEC 61508-7 §A.7.2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多位冗余编码(如汉明码硬件实现)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可检测并纠正部分错误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地址和控制线也需覆盖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不可纠正 → 总线故障 → 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8_2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9190" y="1654810"/>
            <a:ext cx="6414770" cy="9906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可选 — 需硬件支持。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不适用。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A.8 + IEC 61508-7 §A.7.2</a:t>
            </a:r>
            <a:endParaRPr lang="en-US" sz="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A.7.3 完全硬件冗余 / Complete Hardware Redundancy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A.8 + IEC 61508-7 §A.7.3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总线物理双份(独立线路)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两路并行传输相同数据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接收端比对,不一致 → 故障 → 安全状态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成本最高,覆盖最全</a:t>
            </a:r>
            <a:endParaRPr lang="en-US" sz="850" dirty="0"/>
          </a:p>
        </p:txBody>
      </p:sp>
      <p:pic>
        <p:nvPicPr>
          <p:cNvPr id="17" name="Image 0" descr="c:/Users/zyc/.trae-cn/work/6a164bdc96cd32babbbe2711/flow_a8_3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2305" y="1619250"/>
            <a:ext cx="5621655" cy="10972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🔴 成本高 — 双总线不适用于流量计。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冗余背板总线。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A.8 + IEC 61508-7 §A.7.3</a:t>
            </a:r>
            <a:endParaRPr lang="en-US" sz="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A.7.4 测试模式检测 / Inspection Using Test Patterns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A.8 + IEC 61508-7 §A.7.4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周期性向总线注入已知测试模式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读取响应与预期比对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检测地址线/数据线故障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不一致 → 总线故障 → 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8_4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8275" y="1723390"/>
            <a:ext cx="6115685" cy="91313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可选 — 测试模式注入。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建议 — 总线完整性测试。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A.8 + IEC 61508-7 §A.7.4</a:t>
            </a:r>
            <a:endParaRPr lang="en-US" sz="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A.7.5 传输冗余 / Transmission Redundancy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(99%+)(仅瞬态故障)  |  依据 Table A.8 + IEC 61508-7 §A.7.5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每条消息至少发送两次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接收端存储第一条,与第二条比对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仅对瞬态故障有效(EMI等)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永久性故障无法靠重复检测 → 配合其他手段</a:t>
            </a:r>
            <a:endParaRPr lang="en-US" sz="850" dirty="0"/>
          </a:p>
        </p:txBody>
      </p:sp>
      <p:pic>
        <p:nvPicPr>
          <p:cNvPr id="17" name="Image 0" descr="c:/Users/zyc/.trae-cn/work/6a164bdc96cd32babbbe2711/flow_a8_5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3530" y="1609725"/>
            <a:ext cx="5980430" cy="10820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关键SPI消息重发比对。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安全通信协议重发机制。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A.8 + IEC 61508-7 §A.7.5</a:t>
            </a:r>
            <a:endParaRPr lang="en-US" sz="70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870" y="2623820"/>
            <a:ext cx="3914775" cy="82359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A.7.6 信息冗余 / Information Redundancy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A.8 + IEC 61508-7 §A.7.6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数据以块形式传输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每块附CRC校验和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接收端重算比对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不一致 → 数据损坏 → 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8_6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1290" y="1453515"/>
            <a:ext cx="6170930" cy="8966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强烈推荐 — SPI/内部通信CRC-16。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强烈推荐 — 安全通信CRC。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A.8 + IEC 61508-7 §A.7.6</a:t>
            </a:r>
            <a:endParaRPr lang="en-US" sz="70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335" y="2644140"/>
            <a:ext cx="5068570" cy="94488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IEC 61508-2 Annex A  |  Table A.9 — 电源 / Power Supply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M (强制)  |  DC: 视技术而定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20040" y="1005840"/>
          <a:ext cx="8503920" cy="1901952"/>
        </p:xfrm>
        <a:graphic>
          <a:graphicData uri="http://schemas.openxmlformats.org/drawingml/2006/table">
            <a:tbl>
              <a:tblPr/>
              <a:tblGrid>
                <a:gridCol w="2468880"/>
                <a:gridCol w="3657600"/>
                <a:gridCol w="1371600"/>
                <a:gridCol w="1005840"/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技术编号+名称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ID &amp; Name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技术解释 (IEC 61508-7 Annex A)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Explanation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诊断覆盖率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Diagnostic Coverage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SIL 2 要求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Requirement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A.8.1 Overvoltage protection + safety shut-off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过压保护+安全关断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过压检测后关断输出或切换第二电源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 低 (60%)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 (强制)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A.8.2 Voltage control (secondary) + safety shut-off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二次电压控制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监控二次电压,超出范围启动掉电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 (强制)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A.8.3 Power-down + safety shut-off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掉电+安全关断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过/欠压检测→保存状态→关断输出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 (强制)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A.8.1 过压保护+安全关断 / Overvoltage Protection + Safety Shut-off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M (强制)  |  DC: Low (60%)  |  依据 Table A.9 + IEC 61508-7 §A.8.1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检测输入电压是否超过上限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足够早检测 → 所有输出切换至安全状态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或切换至第二电源单元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流量计: 前端TVS+过压比较器</a:t>
            </a:r>
            <a:endParaRPr lang="en-US" sz="850" dirty="0"/>
          </a:p>
        </p:txBody>
      </p:sp>
      <p:pic>
        <p:nvPicPr>
          <p:cNvPr id="17" name="Image 0" descr="c:/Users/zyc/.trae-cn/work/6a164bdc96cd32babbbe2711/flow_a9_1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1385" y="1721485"/>
            <a:ext cx="5362575" cy="9702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必须 — 环路供电前端过压保护。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必须 — 电源系统设计。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A.9 + IEC 61508-7 §A.8.1</a:t>
            </a:r>
            <a:endParaRPr lang="en-US" sz="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A.8.2 二次电压控制+安全关断 / Voltage Control (Secondary) + Safety Shut-off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M (强制)  |  DC: High (99%+)  |  依据 Table A.9 + IEC 61508-7 §A.8.2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监控二次电压(</a:t>
            </a:r>
            <a:r>
              <a:rPr lang="zh-CN" alt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转换为芯片使用的电</a:t>
            </a:r>
            <a:r>
              <a:rPr lang="zh-CN" alt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压）（</a:t>
            </a: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稳压后)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不在规定范围 → 启动掉电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或切换至第二电源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流量计: 复位IC(如MAX809)监控VDD</a:t>
            </a:r>
            <a:endParaRPr lang="en-US" sz="850" dirty="0"/>
          </a:p>
        </p:txBody>
      </p:sp>
      <p:pic>
        <p:nvPicPr>
          <p:cNvPr id="17" name="Image 0" descr="c:/Users/zyc/.trae-cn/work/6a164bdc96cd32babbbe2711/flow_a9_2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4995" y="1670685"/>
            <a:ext cx="5688965" cy="101790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必须 — 复位IC电压监控。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必须 — 电源监控模块。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A.9 + IEC 61508-7 §A.8.2</a:t>
            </a:r>
            <a:endParaRPr lang="en-US" sz="7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630" y="2676525"/>
            <a:ext cx="4857115" cy="93535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A.8.3 掉电+安全关断 / Power-down + Safety Shut-off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M (强制)  |  DC: High (99%+)  |  依据 Table A.9 + IEC 61508-7 §A.8.3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检测过压或欠压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足够早 → 保存内部状态至NVM</a:t>
            </a:r>
            <a:endParaRPr lang="en-US" sz="850" dirty="0">
              <a:solidFill>
                <a:srgbClr val="1E276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（非易失性存储器（</a:t>
            </a:r>
            <a:r>
              <a:rPr lang="en-US" altLang="zh-CN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Non - Volatile Memory）</a:t>
            </a:r>
            <a:r>
              <a:rPr lang="zh-CN" alt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</a:t>
            </a:r>
            <a:endParaRPr lang="zh-CN" altLang="en-US" sz="850" dirty="0">
              <a:solidFill>
                <a:srgbClr val="1E276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所有输出设置安全状态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流量计: 掉电检测→保存FRAM→DAC断电→0mA</a:t>
            </a:r>
            <a:endParaRPr lang="en-US" sz="850" dirty="0"/>
          </a:p>
        </p:txBody>
      </p:sp>
      <p:pic>
        <p:nvPicPr>
          <p:cNvPr id="17" name="Image 0" descr="c:/Users/zyc/.trae-cn/work/6a164bdc96cd32babbbe2711/flow_a9_3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0740" y="1522730"/>
            <a:ext cx="5443220" cy="125539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必须 — 掉电保存+被动安全。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必须 — 冗余电源切换。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A.9 + IEC 61508-7 §A.8.3</a:t>
            </a:r>
            <a:endParaRPr lang="en-US" sz="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IEC 61508-2 Annex A  |  Table A.10+A.11 — 看门狗与时钟 / Watchdog &amp; Clock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HR (强烈推荐)  |  DC: Low/Medium/High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20040" y="1005840"/>
          <a:ext cx="8503920" cy="2523744"/>
        </p:xfrm>
        <a:graphic>
          <a:graphicData uri="http://schemas.openxmlformats.org/drawingml/2006/table">
            <a:tbl>
              <a:tblPr/>
              <a:tblGrid>
                <a:gridCol w="2468880"/>
                <a:gridCol w="3657600"/>
                <a:gridCol w="1371600"/>
                <a:gridCol w="100584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技术编号+名称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ID &amp; Name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技术解释 (IEC 61508-7 Annex A)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Explanation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诊断覆盖率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Diagnostic Coverage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SIL 2 推荐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Recommendation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A.9.1 Watch-dog, separate time base, no time-window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独立时基无窗口WDT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周期喂狗,最大间隔限定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 低 (60%)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HR (强烈推荐)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A.9.2 Watch-dog, separate time base + time-window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独立时基+时间窗口WDT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上下限窗口,过慢过快均触发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 中 (90%)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HR (强烈推荐)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A.9.3 Logical monitoring of program sequence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程序序列逻辑监控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逻辑顺序监控(仅当时序事件影响逻辑流)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 中 (90%)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HR (强烈推荐)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A.9.4 Temporal + logical monitoring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时序+逻辑联合监控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仅当程序序列正确时才重新触发WDT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HR (强烈推荐)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A.9.5 Temporal monitoring with on-line check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在线检查时序监控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启动时验证时序监控功能正常</a:t>
                      </a:r>
                      <a:endParaRPr lang="en-US" sz="1200" dirty="0"/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 中 (90%)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HR (强烈推荐)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A.9.1 独立时基无窗口WDT / Watch-dog (Separate Time Base, No Time-window)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HR (强烈推荐)  |  DC: Low (60%)  |  依据 Table A.10 + IEC 61508-7 §A.9.1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外部定时元件独立时基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周期触发喂狗,只设最大间隔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超时未喂 → 复位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缺点: 喂狗过快无法检测</a:t>
            </a:r>
            <a:endParaRPr lang="en-US" sz="850" dirty="0"/>
          </a:p>
        </p:txBody>
      </p:sp>
      <p:pic>
        <p:nvPicPr>
          <p:cNvPr id="17" name="Image 0" descr="c:/Users/zyc/.trae-cn/work/6a164bdc96cd32babbbe2711/flow_a10_1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3215" y="1536065"/>
            <a:ext cx="5960745" cy="118745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基本型 — 建议用A.9.2/A.9.4。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不适用。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A.10/A.11 + IEC 61508-7 §A.9.1</a:t>
            </a:r>
            <a:endParaRPr lang="en-US" sz="7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215" y="2571750"/>
            <a:ext cx="4895850" cy="106870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A.9.2 独立时基+时间窗口WDT / Watch-dog (Separate Time Base + Time-window)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HR (强烈推荐)  |  DC: Medium (90%)  |  依据 Table A.10 + IEC 61508-7 §A.9.2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独立时基+上下限窗口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执行时间比预期长或短 → 紧急措施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太快=跳步,太慢=卡死,均触发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流量计: TPS3850 100ms窗口</a:t>
            </a:r>
            <a:endParaRPr lang="en-US" sz="850" dirty="0"/>
          </a:p>
        </p:txBody>
      </p:sp>
      <p:pic>
        <p:nvPicPr>
          <p:cNvPr id="17" name="Image 0" descr="c:/Users/zyc/.trae-cn/work/6a164bdc96cd32babbbe2711/flow_a10_2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0390" y="1158240"/>
            <a:ext cx="6465570" cy="10185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强烈推荐 — TPS3850窗口WDT。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建议 — 控制器看门狗。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A.10/A.11 + IEC 61508-7 §A.9.2</a:t>
            </a:r>
            <a:endParaRPr lang="en-US" sz="7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595" y="2530475"/>
            <a:ext cx="4764405" cy="102298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A.9.3 程序序列逻辑监控 / Logical Monitoring of Program Sequence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HR (强烈推荐)  |  DC: Medium (90%)  |  依据 Table A.10 + IEC 61508-7 §A.9.3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监控程序段的执行顺序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顺序错误 → 判定程序跑飞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仅当时序事件影响逻辑流时对时钟故障有效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配合时序监控使用效果更好</a:t>
            </a:r>
            <a:endParaRPr lang="en-US" sz="850" dirty="0"/>
          </a:p>
        </p:txBody>
      </p:sp>
      <p:pic>
        <p:nvPicPr>
          <p:cNvPr id="17" name="Image 0" descr="c:/Users/zyc/.trae-cn/work/6a164bdc96cd32babbbe2711/flow_a10_3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5975" y="1254760"/>
            <a:ext cx="5467985" cy="111125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程序顺序监控。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不适用。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A.10/A.11 + IEC 61508-7 §A.9.3</a:t>
            </a:r>
            <a:endParaRPr lang="en-US" sz="7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975" y="2372360"/>
            <a:ext cx="5613400" cy="107378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A.9.4 时序+逻辑联合监控 / Temporal + Logical Monitoring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HR (强烈推荐)  |  DC: High (99%+)  |  依据 Table A.10 + IEC 61508-7 §A.9.4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时序监控+逻辑监控组合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只有程序序列正确执行时才允许重新触发WDT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最大DC = High (99%+)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流量计: 主循环按ADC→CRC→DAC顺序喂狗</a:t>
            </a:r>
            <a:endParaRPr lang="en-US" sz="850" dirty="0"/>
          </a:p>
        </p:txBody>
      </p:sp>
      <p:pic>
        <p:nvPicPr>
          <p:cNvPr id="17" name="Image 0" descr="c:/Users/zyc/.trae-cn/work/6a164bdc96cd32babbbe2711/flow_a10_4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6890" y="986155"/>
            <a:ext cx="5278755" cy="7620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最推荐 — 时序+逻辑联合喂狗。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冗余监测。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A.10/A.11 + IEC 61508-7 §A.9.4</a:t>
            </a:r>
            <a:endParaRPr lang="en-US" sz="7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440" y="2335530"/>
            <a:ext cx="6004560" cy="116268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A.9.5 在线检查时序监控 / Temporal Monitoring with On-line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HR (强烈推荐)  |  DC: Medium (90%)  |  依据 Table A.10 + IEC 61508-7 §A.9.5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启动时检查时序监控功能</a:t>
            </a:r>
            <a:endParaRPr lang="en-US" sz="850" dirty="0">
              <a:solidFill>
                <a:srgbClr val="1E276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650" dirty="0"/>
              <a:t>（在启动前检查各模块按规定顺序正常上电、初始化</a:t>
            </a:r>
            <a:endParaRPr lang="zh-CN" altLang="en-US" sz="65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650" dirty="0"/>
              <a:t>和运行，检验通过才正式启动程序，确保系统启动时</a:t>
            </a:r>
            <a:endParaRPr lang="zh-CN" altLang="en-US" sz="65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650" dirty="0"/>
              <a:t>的时序逻辑正确，避免因顺序错乱等问题导致启动故障。</a:t>
            </a:r>
            <a:r>
              <a:rPr lang="zh-CN" altLang="en-US" sz="850" dirty="0"/>
              <a:t>）</a:t>
            </a:r>
            <a:endParaRPr lang="zh-CN" alt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只有时序监控工作正常才允许启动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检测WDT自身失效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运行中周期性自检WDT</a:t>
            </a:r>
            <a:endParaRPr lang="en-US" sz="850" dirty="0"/>
          </a:p>
        </p:txBody>
      </p:sp>
      <p:pic>
        <p:nvPicPr>
          <p:cNvPr id="17" name="Image 0" descr="c:/Users/zyc/.trae-cn/work/6a164bdc96cd32babbbe2711/flow_a10_5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2950" y="1173480"/>
            <a:ext cx="4811395" cy="101219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上电WDT自检。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不适用。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A.10/A.11 + IEC 61508-7 §A.9.5</a:t>
            </a:r>
            <a:endParaRPr lang="en-US" sz="7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730" y="2433320"/>
            <a:ext cx="5253355" cy="106426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IEC 61508-2 Annex A  |  Table A.12 — 通信与海量存储 / Communication &amp; Mass-Storage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引用 Table A.7 / A.8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20040" y="1005840"/>
          <a:ext cx="8503920" cy="2871216"/>
        </p:xfrm>
        <a:graphic>
          <a:graphicData uri="http://schemas.openxmlformats.org/drawingml/2006/table">
            <a:tbl>
              <a:tblPr/>
              <a:tblGrid>
                <a:gridCol w="3017520"/>
                <a:gridCol w="3566160"/>
                <a:gridCol w="914400"/>
                <a:gridCol w="100584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通信路径(中英)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Communication Path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技术解释(中英)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Explanation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引用表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Reference Table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SIL 2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E/E/PE系统与过程间信息交换 (传感器/执行器通信)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Info exchange: system ↔ process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引用 Table A.7 I/O单元与接口技术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Refers to Table A.7 I/O interface techniques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Table A.7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E/E/PE安全相关系统之间信息交换 (系统间通信/总线)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Info exchange: system ↔ system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引用 Table A.8 数据通路技术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Refers to Table A.8 data path techniques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Table A.8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系统↔过程通信 / System ↔ Process Communication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引用 Table A.7 (I/O接口)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系统与传感器/执行器通信 (如 4-20mA / RS485)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 Table A.7 技术: 测试模式 / 代码保护 / 反相传输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通信错误检测 (CRC / 超时)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 → 拒绝数据 → 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12_1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4110" y="1801495"/>
            <a:ext cx="5149850" cy="8686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强烈推荐 — 4-20mA输出 + RS485通信保护。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传感器输入卡。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A.12 (引用 Table A.7) + IEC 61508-7 §A.7</a:t>
            </a:r>
            <a:endParaRPr lang="en-US" sz="7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系统↔系统通信 / System ↔ System Communication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引用 Table A.8 (数据通路)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安全相关系统间通信 (如 SIS 逻辑控制器之间)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 Table A.8 技术: 信息冗余 / 传输冗余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消息序号 + 时间戳 防重放 / 乱序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故障 → 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12_2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6970" y="1781810"/>
            <a:ext cx="5126990" cy="90106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相关 — 若支持 HART 等总线。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强烈推荐 — 安全PLC间通信。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A.12 (引用 Table A.8) + IEC 61508-7 §A.8</a:t>
            </a:r>
            <a:endParaRPr lang="en-US" sz="7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海量存储介质 / Mass-Storage Media (Flash/SD)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参考 Table A.5/A.6 (存储校验)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Flash / SD 存储参数数据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每块数据附 CRC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双份存储 (主份 + 备份)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读取校验, 不一致 → 使用备份 → 告警</a:t>
            </a:r>
            <a:endParaRPr lang="en-US" sz="850" dirty="0"/>
          </a:p>
        </p:txBody>
      </p:sp>
      <p:pic>
        <p:nvPicPr>
          <p:cNvPr id="17" name="Image 0" descr="c:/Users/zyc/.trae-cn/work/6a164bdc96cd32babbbe2711/flow_a12_3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4320" y="1530985"/>
            <a:ext cx="6009640" cy="119062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参数存储 CRC + 双份。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不适用。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A.12 (参考 A.5/A.6) + IEC 61508-7 §A.5/A.6</a:t>
            </a:r>
            <a:endParaRPr lang="en-US" sz="700" dirty="0"/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IEC 61508-2 Annex A  |  Table A.13 — 传感器 / Sensors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视技术而定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20040" y="1005840"/>
          <a:ext cx="8503920" cy="3493008"/>
        </p:xfrm>
        <a:graphic>
          <a:graphicData uri="http://schemas.openxmlformats.org/drawingml/2006/table">
            <a:tbl>
              <a:tblPr/>
              <a:tblGrid>
                <a:gridCol w="2926080"/>
                <a:gridCol w="3291840"/>
                <a:gridCol w="1280160"/>
                <a:gridCol w="100584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技术+名称(中英)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ID &amp; Name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技术解释(中英)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Explanation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诊断覆盖率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Diagnostic Coverage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SIL 2 推荐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Recommendation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A.1.1 Failure detection by on-line monitoring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在线监测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利用过程时序信息检测传感器失效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Process timing info detects sensor failure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Low/Medium 低/中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A.2.7 Analogue signal monitoring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模拟信号监控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4-20mA 容差窗口监控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4-20mA tolerance window monitoring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 低 (60%)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A.6.1 Test pattern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测试模式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传感器测试模式注入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Sensor test pattern injection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A.6.5 Input comparison/voting (1oo2, 2oo3)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输入比较/表决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冗余传感器输入比较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Redundant sensor input comparison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A.12.1 Reference sensor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参考传感器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独立参考传感器定时校验过程传感器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Reference sensor periodically checks process sensor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A.12.2 Positive-activated switch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正动作开关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正动作为安全状态 (常闭/断线检测)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Positive action = safe state (NC/wire-break)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A.12.1 参考传感器 / Reference Sensor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A.13 + IEC 61508-7 §A.12.1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安装独立参考传感器 (不同原理更佳)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按合适时间间隔用参考传感器校验过程传感器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差值超限 → 过程传感器故障 → 安全状态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流量计: 可与压差/超声波交叉校验</a:t>
            </a:r>
            <a:endParaRPr lang="en-US" sz="850" dirty="0"/>
          </a:p>
        </p:txBody>
      </p:sp>
      <p:pic>
        <p:nvPicPr>
          <p:cNvPr id="17" name="Image 0" descr="c:/Users/zyc/.trae-cn/work/6a164bdc96cd32babbbe2711/flow_a13_1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0465" y="1357630"/>
            <a:ext cx="5103495" cy="154559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需外部参考 — 单台流量计无内部参考传感器。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强烈推荐 — 冗余传感器交叉校验。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A.13 + IEC 61508-7 §A.12.1</a:t>
            </a:r>
            <a:endParaRPr lang="en-US" sz="7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A.12.2 正动作开关 / Positive-Activated Switch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A.13 + IEC 61508-7 §A.12.2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安全状态对应正动作 (如常闭触点)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断线/失电 → 输出安全状态 (不能维持)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失效倾向安全方向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检测任何不能维持安全状态的失效</a:t>
            </a:r>
            <a:endParaRPr lang="en-US" sz="850" dirty="0"/>
          </a:p>
        </p:txBody>
      </p:sp>
      <p:pic>
        <p:nvPicPr>
          <p:cNvPr id="17" name="Image 0" descr="c:/Users/zyc/.trae-cn/work/6a164bdc96cd32babbbe2711/flow_a13_2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715" y="1494790"/>
            <a:ext cx="4617085" cy="12573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适用于开关型 — 流量计为模拟输出。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强烈推荐 — 限位开关/安全阀位置开关。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A.13 + IEC 61508-7 §A.12.2</a:t>
            </a:r>
            <a:endParaRPr lang="en-US" sz="700" dirty="0"/>
          </a:p>
        </p:txBody>
      </p:sp>
      <p:sp>
        <p:nvSpPr>
          <p:cNvPr id="23" name="文本框 22"/>
          <p:cNvSpPr txBox="1"/>
          <p:nvPr/>
        </p:nvSpPr>
        <p:spPr>
          <a:xfrm>
            <a:off x="3606800" y="2905125"/>
            <a:ext cx="5080000" cy="70675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000">
                <a:solidFill>
                  <a:schemeClr val="tx1"/>
                </a:solidFill>
                <a:sym typeface="+mn-ea"/>
              </a:rPr>
              <a:t>正动作</a:t>
            </a:r>
            <a:r>
              <a:rPr lang="zh-CN" altLang="en-US" sz="1000">
                <a:solidFill>
                  <a:schemeClr val="tx1"/>
                </a:solidFill>
              </a:rPr>
              <a:t>开关</a:t>
            </a:r>
            <a:r>
              <a:rPr lang="zh-CN" altLang="en-US" sz="1000"/>
              <a:t>特征：正常状态下保持通路（常闭触点闭合），确保系统能正常启动运行；当出现影响启动可靠性的异常情况，如超温、时序错乱等，开关动作（常闭触点断开），阻止系统错误启动，保障启动过程安全可靠，可通过硬件（如超温熔断触点）或软件逻辑来实现控制 </a:t>
            </a:r>
            <a:endParaRPr lang="zh-CN" altLang="en-US" sz="10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IEC 61508-2 Annex A  |  Table A.14 — 最终元件 / Final Elements (Actuators)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视技术而定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20040" y="1005840"/>
          <a:ext cx="8503920" cy="2980944"/>
        </p:xfrm>
        <a:graphic>
          <a:graphicData uri="http://schemas.openxmlformats.org/drawingml/2006/table">
            <a:tbl>
              <a:tblPr/>
              <a:tblGrid>
                <a:gridCol w="2926080"/>
                <a:gridCol w="3291840"/>
                <a:gridCol w="1280160"/>
                <a:gridCol w="100584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技术+名称(中英)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ID &amp; Name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技术解释(中英)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Technical Explanation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诊断覆盖率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Diagnostic Coverage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SIL 2 推荐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Recommendation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63500" marB="635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A.1.1 Failure detection by on-line monitoring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在线监测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执行器时序行为监测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Actuator timing behavior monitoring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Low/Medium 低/中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A.1.2 Monitoring of relay contacts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继电器触点监控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触点状态互斥比较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Contact state mutual-exclusion comparison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A.6.1 Test pattern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测试模式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执行器测试模式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Actuator test pattern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A.13.1 Monitoring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监控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执行器状态监控 (位置/电流反馈)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Actuator status monitoring (position/current)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A.13.2 Cross-monitoring of multiple actuators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多执行器交叉监控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多执行器输出相互监控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Multiple actuators monitor each other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高 (99%+)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 (推荐)</a:t>
                      </a:r>
                      <a:endParaRPr lang="en-US" sz="1200" dirty="0"/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A.13.1 监控 / Monitoring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A.14 + IEC 61508-7 §A.13.1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监控执行器状态 (阀门位置反馈/电机电流)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与指令信号比较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偏差超限 → 执行器故障 → 安全状态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流量计所在 SIS 回路: 监控关断阀位置</a:t>
            </a:r>
            <a:endParaRPr lang="en-US" sz="850" dirty="0"/>
          </a:p>
        </p:txBody>
      </p:sp>
      <p:pic>
        <p:nvPicPr>
          <p:cNvPr id="17" name="Image 0" descr="c:/Users/zyc/.trae-cn/work/6a164bdc96cd32babbbe2711/flow_a14_1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2040209"/>
            <a:ext cx="3474720" cy="674463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间接相关 — 流量计为传感器, 不直接监控执行器。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强烈推荐 — 关断阀位置反馈监控。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A.14 + IEC 61508-7 §A.13.1</a:t>
            </a:r>
            <a:endParaRPr lang="en-US" sz="7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A.13.2 多执行器交叉监控 / Cross-Monitoring of Multiple Actuators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 2: R (推荐)  |  DC: High (99%+)  |  依据 Table A.14 + IEC 61508-7 §A.13.2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20040" y="10881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多个执行器输出相互监控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320040" y="16550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某一执行器输出异常 → 交叉检测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20040" y="2221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85416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通常用于冗余执行器组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320040" y="2788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752344"/>
            <a:ext cx="44988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不一致 → 故障 → 安全状态</a:t>
            </a:r>
            <a:endParaRPr lang="en-US" sz="850" dirty="0"/>
          </a:p>
        </p:txBody>
      </p:sp>
      <p:pic>
        <p:nvPicPr>
          <p:cNvPr id="17" name="Image 0" descr="c:/Users/zyc/.trae-cn/work/6a164bdc96cd32babbbe2711/flow_a14_2_1000x5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966252"/>
            <a:ext cx="3474720" cy="82237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</p:spPr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仪器仪表厂家: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🔴 不适用 — 无执行器。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SIS系统集成方: </a:t>
            </a:r>
            <a:r>
              <a:rPr lang="en-US" sz="9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推荐 — 冗余执行器配置。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IEC 61508-2 Table A.14 + IEC 61508-7 §A.13.2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24881</Words>
  <Application>WPS 演示</Application>
  <PresentationFormat>On-screen Show (16:9)</PresentationFormat>
  <Paragraphs>2241</Paragraphs>
  <Slides>66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80" baseType="lpstr">
      <vt:lpstr>Arial</vt:lpstr>
      <vt:lpstr>宋体</vt:lpstr>
      <vt:lpstr>Wingdings</vt:lpstr>
      <vt:lpstr>Georgia</vt:lpstr>
      <vt:lpstr>Georgia</vt:lpstr>
      <vt:lpstr>Georgia</vt:lpstr>
      <vt:lpstr>Calibri</vt:lpstr>
      <vt:lpstr>Calibri</vt:lpstr>
      <vt:lpstr>Calibri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王金星</cp:lastModifiedBy>
  <cp:revision>19</cp:revision>
  <dcterms:created xsi:type="dcterms:W3CDTF">2026-08-24T02:14:00Z</dcterms:created>
  <dcterms:modified xsi:type="dcterms:W3CDTF">2026-08-24T06:48:27Z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29E14BA8EDE748B994FFBCA4798C6E27_13</vt:lpwstr>
  </property>
</Properties>
</file>